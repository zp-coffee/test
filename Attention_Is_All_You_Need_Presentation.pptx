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1371600" cy="1371600"/>
          </a:xfrm>
          <a:prstGeom prst="ellipse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274320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36576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Attention Is All You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39C12"/>
                </a:solidFill>
                <a:latin typeface="微软雅黑"/>
              </a:rPr>
              <a:t>注意力就是你所需要的一切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86AB"/>
                </a:solidFill>
                <a:latin typeface="微软雅黑"/>
              </a:rPr>
              <a:t>— Transformer 架构的诞生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微软雅黑"/>
              </a:rPr>
              <a:t>Vaswani, Shazeer, Parmar, Uszkoreit, Jones, Gomez, Kaiser, Polosukhin</a:t>
            </a:r>
          </a:p>
          <a:p>
            <a:r>
              <a:rPr sz="1200">
                <a:solidFill>
                  <a:srgbClr val="7F8C8D"/>
                </a:solidFill>
                <a:latin typeface="微软雅黑"/>
              </a:rPr>
              <a:t>Google Brain · Google Research · University of Toronto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F39C12"/>
                </a:solidFill>
                <a:latin typeface="微软雅黑"/>
              </a:rPr>
              <a:t>第31届神经信息处理系统大会 (NIPS 2017) · 长滩, 加利福尼亚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6400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微软雅黑"/>
              </a:rPr>
              <a:t>01  研究背景与动机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029200" cy="6400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微软雅黑"/>
              </a:rPr>
              <a:t>02  模型架构总览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029200" cy="6400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微软雅黑"/>
              </a:rPr>
              <a:t>03  缩放点积注意力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029200" cy="6400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微软雅黑"/>
              </a:rPr>
              <a:t>04  多头注意力机制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5029200" cy="6400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微软雅黑"/>
              </a:rPr>
              <a:t>05  注意力的三种应用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5029200" cy="6400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790D"/>
                </a:solidFill>
                <a:latin typeface="微软雅黑"/>
              </a:rPr>
              <a:t>06  前馈网络与位置编码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5029200" cy="6400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790D"/>
                </a:solidFill>
                <a:latin typeface="微软雅黑"/>
              </a:rPr>
              <a:t>07  残差连接与层归一化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5029200" cy="6400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790D"/>
                </a:solidFill>
                <a:latin typeface="微软雅黑"/>
              </a:rPr>
              <a:t>08  为什么选择自注意力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389120"/>
            <a:ext cx="5029200" cy="6400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790D"/>
                </a:solidFill>
                <a:latin typeface="微软雅黑"/>
              </a:rPr>
              <a:t>09  训练策略与细节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303520"/>
            <a:ext cx="5029200" cy="6400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790D"/>
                </a:solidFill>
                <a:latin typeface="微软雅黑"/>
              </a:rPr>
              <a:t>10  实验结果与结论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01 研究背景与动机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为什么我们需要一个全新的架构？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91440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  <a:latin typeface="微软雅黑"/>
              </a:rPr>
              <a:t>🔴 传统方法的问题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主流模型依赖复杂的 RNN 或 CNN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RNN 顺序处理 → 无法并行化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序列越长，计算瓶颈越严重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内存约束限制批处理规模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长距离依赖关系难以学习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注意力机制总是与 RNN 结合使用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9144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微软雅黑"/>
              </a:rPr>
              <a:t>🟢 Transformer 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完全基于注意力，摒弃循环和卷积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高度并行化 → 训练速度大幅提升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任意位置间路径长度 O(1)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▸ 8块 P100 GPU 训练仅需 3.5 天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📊 核心结果：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   • 英德翻译: 28.4 BLEU (新 SOTA)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   • 英法翻译: 41.0 BLEU (单模型新 SOTA)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   • 训练成本为竞争模型的一小部分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02 模型架构总览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编码器-解码器结构</a:t>
            </a:r>
          </a:p>
        </p:txBody>
      </p:sp>
      <p:pic>
        <p:nvPicPr>
          <p:cNvPr id="6" name="Picture 5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843836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6304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微软雅黑"/>
              </a:rPr>
              <a:t>架构要点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📐 编码器 (Encoder):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N = 6 层完全相同的层堆叠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每层: 多头自注意力 + 前馈网络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残差连接 + 层归一化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所有子层输出维度 dmodel = 512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📐 解码器 (Decoder):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N = 6 层完全相同的层堆叠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每层包含三个子层: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  ① 掩码多头自注意力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  ② 编码器-解码器注意力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  ③ 前馈网络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掩码确保位置 i 只能关注 &lt; i 的位置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🔑 核心创新: 纯注意力，无循环无卷积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03 缩放点积注意力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Scaled Dot-Product Attention</a:t>
            </a:r>
          </a:p>
        </p:txBody>
      </p:sp>
      <p:pic>
        <p:nvPicPr>
          <p:cNvPr id="6" name="Picture 5" descr="02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6858000" cy="34001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754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微软雅黑"/>
              </a:rPr>
              <a:t>核心公式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Cambria Math"/>
              </a:rPr>
              <a:t>Attention(Q,K,V) = softmax(QK^T/√dk)·V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3774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🔹 输入: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Q (查询), K (键): 维度 dk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V (值): 维度 dv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🔹 计算步骤: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① Q 与所有 K 的点积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② 除以 √dk 进行缩放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③ Softmax 得到权重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④ 权重对 V 加权求和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🔹 为什么缩放？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dk 大时点积值大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→ softmax 梯度趋零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→ 除以 √dk 稳定训练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04 多头注意力机制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Multi-Head Attention — 从不同子空间捕获信息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943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AB"/>
                </a:solidFill>
                <a:latin typeface="微软雅黑"/>
              </a:rP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💡 与其用全维度做单次注意力...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不如将 Q,K,V 投影 h 次到不同子空间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🔹 步骤: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① 对 Q,K,V 分别做 h 次线性投影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② 每个投影上并行执行注意力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③ 拼接所有头的输出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④ 最终线性变换得到结果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🔹 配置: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h = 8 个并行注意力头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dk = dv = dmodel/h = 64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总计算量 ≈ 全维度单头注意力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🔹 优势: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同时关注不同位置的不同信息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 • 不同头学习不同的语义/句法关系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63040"/>
            <a:ext cx="5212080" cy="228600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AB"/>
                </a:solidFill>
                <a:latin typeface="微软雅黑"/>
              </a:rPr>
              <a:t>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>MultiHead(Q,K,V) = Concat(head1,...,headh)W^O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>其中 headi = Attention(QWiQ, KWiK, VWiV)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>参数矩阵维度: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>WiQ, WiK ∈ R^(dmodel×dk)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D1B2A"/>
                </a:solidFill>
                <a:latin typeface="微软雅黑"/>
              </a:rPr>
              <a:t>WiV ∈ R^(dmodel×dv), W^O ∈ R^(hdv×dmodel)</a:t>
            </a:r>
          </a:p>
        </p:txBody>
      </p:sp>
      <p:pic>
        <p:nvPicPr>
          <p:cNvPr id="12" name="Picture 11" descr="06_self_attention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931920"/>
            <a:ext cx="5212080" cy="3892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05 注意力的三种应用方式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Transformer 中注意力的不同使用场景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编码器-解码器注意力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Q 来自前一个解码器层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K,V 来自编码器输出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解码器每个位置可以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关注输入序列所有位置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类似传统 seq2seq 注意力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编码器自注意力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Q,K,V 全部来自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编码器前一层输出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每个位置可以关注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前一层的所有位置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捕获输入内部依赖关系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解码器掩码自注意力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每个位置只能关注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当前及之前的位置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通过掩码 (设为 -∞)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阻止信息向左流动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• 保持自回归生成特性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06 前馈网络与位置编码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Position-wise FFN &amp; Positional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44AD"/>
                </a:solidFill>
                <a:latin typeface="微软雅黑"/>
              </a:rPr>
              <a:t>位置前馈网络 (FFN)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对每个位置独立且相同地应用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两个线性变换 + ReLU 激活: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  FFN(x) = max(0, xW1+b1)W2+b2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输入/输出: dmodel=512, 中间层: dff=2048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等价于两个核大小为1的卷积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669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微软雅黑"/>
              </a:rPr>
              <a:t>嵌入层与 Softmax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学习嵌入: 词元 → dmodel 维向量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两个嵌入层 + pre-softmax 共享权重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嵌入权重乘以 √dmodel 缩放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C3E50"/>
                </a:solidFill>
                <a:latin typeface="微软雅黑"/>
              </a:rPr>
              <a:t>• 解码器输出 → 线性 → Softmax → 概率</a:t>
            </a:r>
          </a:p>
        </p:txBody>
      </p:sp>
      <p:pic>
        <p:nvPicPr>
          <p:cNvPr id="12" name="Picture 11" descr="03_positional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06240"/>
            <a:ext cx="5486400" cy="289026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206240"/>
            <a:ext cx="5669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微软雅黑"/>
              </a:rPr>
              <a:t>正弦位置编码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无循环无卷积 → 需注入位置信息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PE(pos,2i) = sin(pos/10000^(2i/d))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PE(pos,2i+1) = cos(pos/10000^(2i/d))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波长从 2π 到 10000·2π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PE(pos+k) 是 PE(pos) 的线性函数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可外推到更长序列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07 残差连接与层归一化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Add &amp; Norm — 深层网络训练的关键</a:t>
            </a:r>
          </a:p>
        </p:txBody>
      </p:sp>
      <p:pic>
        <p:nvPicPr>
          <p:cNvPr id="6" name="Picture 5" descr="07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632188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1463040"/>
            <a:ext cx="6858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微软雅黑"/>
              </a:rPr>
              <a:t>设计细节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🔷 残差连接 (Residual Connection):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输入直接加到子层输出上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output = x + Sublayer(x)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缓解梯度消失问题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信息可跳过中间层传播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🔷 层归一化 (Layer Normalization):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对每个样本的特征维度归一化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应用在残差连接之后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LayerNorm(x + Sublayer(x))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稳定各层输入分布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🔷 维度一致性: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所有子层输出 = dmodel = 512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残差连接可直接相加（无需投影）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🔷 Dropout: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每个子层输出 Pdrop = 0.1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• 嵌入+位置编码之和也 Dropout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08 为什么选择自注意力？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与循环层和卷积层的全面对比</a:t>
            </a:r>
          </a:p>
        </p:txBody>
      </p:sp>
      <p:pic>
        <p:nvPicPr>
          <p:cNvPr id="6" name="Picture 5" descr="05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315200" cy="28556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463040"/>
            <a:ext cx="41148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AB"/>
                </a:solidFill>
                <a:latin typeface="微软雅黑"/>
              </a:rPr>
              <a:t>三大评估维度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① 计算复杂度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n &lt; d 时自注意力更快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(自然语言通常如此)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② 并行化程度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自注意力: O(1) 顺序操作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循环层: O(n) 顺序操作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③ 长距离依赖路径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自注意力: O(1) 步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循环层: O(n) 步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卷积层: O(logk(n)) 步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🏆 自注意力在②③上完胜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💡 额外: 注意力模式可解释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不同头学习不同任务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09 训练策略与细节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数据、硬件、优化器与正则化</a:t>
            </a:r>
          </a:p>
        </p:txBody>
      </p:sp>
      <p:pic>
        <p:nvPicPr>
          <p:cNvPr id="6" name="Picture 5" descr="04_train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840480"/>
            <a:ext cx="7315200" cy="30147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463040"/>
            <a:ext cx="3657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微软雅黑"/>
              </a:rPr>
              <a:t>📊 训练数据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WMT 2014 英德: 450万句对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BPE编码, 约37K词元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WMT 2014 英法: 3600万句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32K word-piece 词表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每批次~25K源+25K目标词元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657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/>
              </a:rPr>
              <a:t>🖥️ 硬件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8块 NVIDIA P100 GPU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Base: 0.4s/步, 10万步 (12h)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Big: 1.0s/步, 30万步 (3.5d)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成本远低于竞争模型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微软雅黑"/>
              </a:rPr>
              <a:t>⚡ 优化与正则化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优化器: Adam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β1=0.9, β2=0.98, ε=10^-9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学习率调度: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前4000步线性预热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之后按步数^-0.5衰减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正则化: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Dropout = 0.1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标签平滑 εls = 0.1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  (损失PPL,提升BLEU)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推理: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Beam search size=4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长度惩罚 α=0.6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Base: 平均最后5个ckpt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C3E50"/>
                </a:solidFill>
                <a:latin typeface="微软雅黑"/>
              </a:rPr>
              <a:t>• Big: 平均最后20个ckpt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10 实验结果 — 机器翻译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WMT 2014 BLEU 分数对比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920240"/>
              </a:tblGrid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英-德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英-法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训练成本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ByteNet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GNMT + RL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24.6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39.92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2.3×10¹⁹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ConvS2S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9.6×10¹⁸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MoE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26.03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40.56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2.0×10¹⁹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GNMT+RL 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26.30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1.8×10²⁰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ConvS2S 集成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26.36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41.29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7.7×10¹⁹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Transformer(base)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27.3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38.1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3.3×10¹⁸⭐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Transformer(big)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28.4🏆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41.0🏆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  <a:latin typeface="微软雅黑"/>
                        </a:rPr>
                        <a:t>2.3×10¹⁹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46304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微软雅黑"/>
              </a:rPr>
              <a:t>🏆 关键发现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✅ Big模型超越所有先前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模型(含集成) 2+ BLEU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✅ 新 SOTA: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英德: 28.4 BLEU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英法: 41.0 BLEU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✅ Base模型训练成本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仅 3.3×10¹⁸ FLOPs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比竞争模型少一个量级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✅ 8GPU × 3.5天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✅ 超越所有单模型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   和集成模型的最佳结果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7772400" cy="128016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微软雅黑"/>
              </a:rPr>
              <a:t>消融实验关键发现: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  <a:latin typeface="微软雅黑"/>
              </a:rPr>
              <a:t>• h=8最优 | dk减小损害质量 | 模型越大越好 | Dropout很重要 | 正弦≈学习位置编码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10 泛化能力 — 英语句法分析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English Constituency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E44AD"/>
                </a:solidFill>
                <a:latin typeface="微软雅黑"/>
              </a:rPr>
              <a:t>Transformer 在句法分析上的表现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📋 任务: 英语句法分析 — 将句子解析为树形句法结构（有强结构约束）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📋 数据: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Penn Treebank WSJ 数据集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仅约4万训练句子 | 半监督: 额外1700万句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📋 模型: 4层 Transformer (dmodel=1024)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📋 结果 (WSJ Section 23, F1):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Transformer: 91.3 F1 — 超越所有先前单模型!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半监督设置: 与 RNN Grammar 等最佳结果相当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📋 意义: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证明 Transformer 泛化能力强，不仅限于翻译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无需任务特定调优即可取得优秀结果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C3E50"/>
                </a:solidFill>
                <a:latin typeface="微软雅黑"/>
              </a:rPr>
              <a:t>   • 为后续 BERT/GPT 应用于多种任务奠定基础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669280" cy="2194560"/>
          </a:xfrm>
          <a:prstGeom prst="roundRect">
            <a:avLst/>
          </a:prstGeom>
          <a:solidFill>
            <a:srgbClr val="162D4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AB"/>
                </a:solidFill>
                <a:latin typeface="微软雅黑"/>
              </a:rPr>
              <a:t>🏗️ 全新架构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F0F1"/>
                </a:solidFill>
                <a:latin typeface="微软雅黑"/>
              </a:rPr>
              <a:t>首个完全基于注意力的序列转换模型
摒弃了 RNN 和 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669280" cy="2194560"/>
          </a:xfrm>
          <a:prstGeom prst="roundRect">
            <a:avLst/>
          </a:prstGeom>
          <a:solidFill>
            <a:srgbClr val="162D4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微软雅黑"/>
              </a:rPr>
              <a:t>⚡ 高效训练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F0F1"/>
                </a:solidFill>
                <a:latin typeface="微软雅黑"/>
              </a:rPr>
              <a:t>高度并行化，训练成本为竞争模型一小部分
8块P100 GPU训练3.5天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79"/>
            <a:ext cx="5669280" cy="2194560"/>
          </a:xfrm>
          <a:prstGeom prst="roundRect">
            <a:avLst/>
          </a:prstGeom>
          <a:solidFill>
            <a:srgbClr val="162D4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微软雅黑"/>
              </a:rPr>
              <a:t>🏆 SOTA 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199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F0F1"/>
                </a:solidFill>
                <a:latin typeface="微软雅黑"/>
              </a:rPr>
              <a:t>英德 28.4 BLEU, 英法 41.0 BLEU
大幅超越所有先前模型(含集成)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79"/>
            <a:ext cx="5669280" cy="2194560"/>
          </a:xfrm>
          <a:prstGeom prst="roundRect">
            <a:avLst/>
          </a:prstGeom>
          <a:solidFill>
            <a:srgbClr val="162D4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E44AD"/>
                </a:solidFill>
                <a:latin typeface="微软雅黑"/>
              </a:rPr>
              <a:t>🔄 强泛化性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199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F0F1"/>
                </a:solidFill>
                <a:latin typeface="微软雅黑"/>
              </a:rPr>
              <a:t>成功应用于句法分析等其他任务
为后续 BERT/GPT 等奠定基础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62D4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39C12"/>
                </a:solidFill>
                <a:latin typeface="微软雅黑"/>
              </a:rPr>
              <a:t>🔮 未来方向: 图像/音频/视频 | 局部/受限注意力 | 减少生成的顺序依赖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历史影响 — Transformer 的深远意义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从一篇论文到改变整个 AI 领域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奠基之作: BERT (2018), GPT (2018), T5 (2019) 等划时代模型的基础架构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预训练范式: 开启「预训练+微调」NLP 新范式，彻底改变自然语言处理领域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跨领域扩展: Vision Transformer (ViT), DALL-E, Stable Diffusion, AlphaFold2...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规模扩展: 从6500万参数到数万亿参数 (GPT-4, PaLM, Gemini 等)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自注意力机制成为序列建模事实标准，取代了 LSTM/GRU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引用超过 130,000 次 — 史上最具影响力的机器学习论文之一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 开启生成式 AI 时代: ChatGPT, Claude, Gemini 等大语言模型的技术基石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C3E50"/>
                </a:solidFill>
                <a:latin typeface="微软雅黑"/>
              </a:rPr>
              <a:t>⭐「Attention Is All You Need」成为 AI 历史上最具标志性的论文标题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572000"/>
            <a:ext cx="2286000" cy="2286000"/>
          </a:xfrm>
          <a:prstGeom prst="ellipse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39C12"/>
                </a:solidFill>
                <a:latin typeface="Calibri Light"/>
              </a:rPr>
              <a:t>「 Attention Is All You Need 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E86AB"/>
                </a:solidFill>
                <a:latin typeface="微软雅黑"/>
              </a:rPr>
              <a:t>注意力就是你所需要的一切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Vaswani et al. · NIPS 2017 · Google Brain &amp;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