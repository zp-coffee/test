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Calibri Light"/>
              </a:rPr>
              <a:t>Attention Is All You Need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00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2E86AB"/>
                </a:solidFill>
                <a:latin typeface="Calibri"/>
              </a:rPr>
              <a:t>The Transformer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3891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BDC3C7"/>
                </a:solidFill>
                <a:latin typeface="Calibri"/>
              </a:rPr>
              <a:t>Vaswani, Shazeer, Parmar, Uszkoreit, Jones, Gomez, Kaiser, Polosukhin</a:t>
            </a:r>
          </a:p>
          <a:p>
            <a:pPr algn="ctr"/>
            <a:r>
              <a:rPr sz="1400">
                <a:solidFill>
                  <a:srgbClr val="95A5A6"/>
                </a:solidFill>
                <a:latin typeface="Calibri"/>
              </a:rPr>
              <a:t>Google Brain · Google Research · University of Toronto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760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39C12"/>
                </a:solidFill>
                <a:latin typeface="Calibri"/>
              </a:rPr>
              <a:t>NIPS 2017 · Long Beach, CA, USA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B2A4A"/>
                </a:solidFill>
                <a:latin typeface="Calibri"/>
              </a:rPr>
              <a:t>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C3E50"/>
                </a:solidFill>
                <a:latin typeface="Calibri"/>
              </a:rPr>
              <a:t>▸ 1. Introduction &amp; Motivation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C3E50"/>
                </a:solidFill>
                <a:latin typeface="Calibri"/>
              </a:rPr>
              <a:t>▸ 2. Background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C3E50"/>
                </a:solidFill>
                <a:latin typeface="Calibri"/>
              </a:rPr>
              <a:t>▸ 3. Model Architecture - The Transformer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C3E50"/>
                </a:solidFill>
                <a:latin typeface="Calibri"/>
              </a:rPr>
              <a:t>▸ 4. Attention Mechanisms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C3E50"/>
                </a:solidFill>
                <a:latin typeface="Calibri"/>
              </a:rPr>
              <a:t>▸ 5. Position-wise Feed-Forward Networks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C3E50"/>
                </a:solidFill>
                <a:latin typeface="Calibri"/>
              </a:rPr>
              <a:t>▸ 6. Positional Encoding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C3E50"/>
                </a:solidFill>
                <a:latin typeface="Calibri"/>
              </a:rPr>
              <a:t>▸ 7. Why Self-Attention?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C3E50"/>
                </a:solidFill>
                <a:latin typeface="Calibri"/>
              </a:rPr>
              <a:t>▸ 8. Training Details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C3E50"/>
                </a:solidFill>
                <a:latin typeface="Calibri"/>
              </a:rPr>
              <a:t>▸ 9. Results &amp; Experiments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C3E50"/>
                </a:solidFill>
                <a:latin typeface="Calibri"/>
              </a:rPr>
              <a:t>▸ 10.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1. Introduction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C3E50"/>
                </a:solidFill>
                <a:latin typeface="Calibri"/>
              </a:rPr>
              <a:t>▸ Dominant sequence transduction models rely on complex RNNs or CNNs with encoder-decoder structure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C3E50"/>
                </a:solidFill>
                <a:latin typeface="Calibri"/>
              </a:rPr>
              <a:t>▸ Best models connect encoder and decoder through attention mechanism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C3E50"/>
                </a:solidFill>
                <a:latin typeface="Calibri"/>
              </a:rPr>
              <a:t>▸ RNNs are inherently sequential → precludes parallelization within training examples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C3E50"/>
                </a:solidFill>
                <a:latin typeface="Calibri"/>
              </a:rPr>
              <a:t>▸ Sequential computation becomes critical bottleneck at longer sequence lengths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C3E50"/>
                </a:solidFill>
                <a:latin typeface="Calibri"/>
              </a:rPr>
              <a:t>▸ Memory constraints limit batching across examples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C3E50"/>
                </a:solidFill>
                <a:latin typeface="Calibri"/>
              </a:rPr>
              <a:t>▸ Proposal: The Transformer — based solely on attention mechanisms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C3E50"/>
                </a:solidFill>
                <a:latin typeface="Calibri"/>
              </a:rPr>
              <a:t>▸ Dispenses with recurrence and convolutions entirely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C3E50"/>
                </a:solidFill>
                <a:latin typeface="Calibri"/>
              </a:rPr>
              <a:t>▸ Achieves superior quality while being more parallelizable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5029200"/>
            <a:ext cx="4114800" cy="1371600"/>
          </a:xfrm>
          <a:prstGeom prst="roundRect">
            <a:avLst/>
          </a:prstGeom>
          <a:solidFill>
            <a:srgbClr val="EBF5FB"/>
          </a:solidFill>
          <a:ln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E86AB"/>
                </a:solidFill>
              </a:rPr>
              <a:t>Key Result: 28.4 BLEU (EN-DE)
41.0 BLEU (EN-FR)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2. 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B2A4A"/>
                </a:solidFill>
                <a:latin typeface="Calibri"/>
              </a:rPr>
              <a:t>Prior Work on Reducing Sequential Computation: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  ▸ Extended Neural GPU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  ▸ ByteNet (logarithmic distance)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  ▸ ConvS2S (linear distance)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  ▸ All use CNNs as basic building block</a:t>
            </a:r>
          </a:p>
          <a:p>
            <a:pPr>
              <a:spcBef>
                <a:spcPts val="2000"/>
              </a:spcBef>
            </a:pPr>
            <a:r>
              <a:rPr sz="1600" b="1">
                <a:solidFill>
                  <a:srgbClr val="1B2A4A"/>
                </a:solidFill>
                <a:latin typeface="Calibri"/>
              </a:rPr>
              <a:t>Self-Attention: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  ▸ Relates different positions of a single sequence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  ▸ Used in reading comprehension, summarization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  ▸ Textual entailment, sentence representations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645920"/>
            <a:ext cx="5303520" cy="4114800"/>
          </a:xfrm>
          <a:prstGeom prst="roundRect">
            <a:avLst/>
          </a:prstGeom>
          <a:solidFill>
            <a:srgbClr val="FDF2E9"/>
          </a:solidFill>
          <a:ln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/>
            <a:r>
              <a:rPr sz="1800" b="1">
                <a:solidFill>
                  <a:srgbClr val="F39C12"/>
                </a:solidFill>
                <a:latin typeface="Calibri"/>
              </a:rPr>
              <a:t>💡 Key Insight</a:t>
            </a:r>
          </a:p>
          <a:p>
            <a:pPr>
              <a:spcBef>
                <a:spcPts val="12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The Transformer is the first transduction model relying entirely on self-attention to compute representations, without using sequence-aligned RNNs or convolution.</a:t>
            </a:r>
          </a:p>
          <a:p>
            <a:pPr>
              <a:spcBef>
                <a:spcPts val="1600"/>
              </a:spcBef>
            </a:pPr>
            <a:r>
              <a:rPr sz="1500" b="1">
                <a:solidFill>
                  <a:srgbClr val="E84D3D"/>
                </a:solidFill>
                <a:latin typeface="Calibri"/>
              </a:rPr>
              <a:t>Constant O(1) operations to relate any two positions!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3. Model Architecture — The Transformer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73152" cy="201168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4630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E86AB"/>
                </a:solidFill>
                <a:latin typeface="Calibri"/>
              </a:rPr>
              <a:t>Encoder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• Stack of N = 6 identical layers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• Each layer: Multi-Head Self-Attention + Feed-Forward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• Residual connections + Layer Normalization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• All sub-layers output dimension dmodel = 512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840480"/>
            <a:ext cx="73152" cy="2286000"/>
          </a:xfrm>
          <a:prstGeom prst="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8404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84D3D"/>
                </a:solidFill>
                <a:latin typeface="Calibri"/>
              </a:rPr>
              <a:t>Decoder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• Stack of N = 6 identical layers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• Third sub-layer: Multi-Head Attention over encoder output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• Masked self-attention prevents attending to future positions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• Residual connections + Layer Normalization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• Output embeddings offset by one position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371600"/>
            <a:ext cx="5029200" cy="5029200"/>
          </a:xfrm>
          <a:prstGeom prst="roundRect">
            <a:avLst/>
          </a:prstGeom>
          <a:solidFill>
            <a:srgbClr val="F0F4F8"/>
          </a:solidFill>
          <a:ln>
            <a:solidFill>
              <a:srgbClr val="BDC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82880"/>
          <a:lstStyle/>
          <a:p>
            <a:pPr algn="ctr"/>
            <a:r>
              <a:rPr sz="1600" b="1">
                <a:solidFill>
                  <a:srgbClr val="1B2A4A"/>
                </a:solidFill>
              </a:rPr>
              <a:t>Architecture Flow</a:t>
            </a:r>
          </a:p>
          <a:p>
            <a:pPr algn="ctr"/>
            <a:r>
              <a:rPr sz="1100">
                <a:solidFill>
                  <a:srgbClr val="2C3E50"/>
                </a:solidFill>
                <a:latin typeface="Consolas"/>
              </a:rPr>
              <a:t>
┌─────────────────────┐
│   Output Probabilities    │
│         ↑                        │
│    Linear + Softmax       │
│         ↑                        │
│  ┌──── DECODER ────┐  │
│  │  Masked Multi-Head   │  │
│  │  Attention + FFN        │  │
│  │  × 6 layers               │  │
│  └─────────────────┘  │
│         ↑                        │
│  ┌──── ENCODER ────┐  │
│  │  Multi-Head Attention │  │
│  │  + FFN × 6 layers      │  │
│  └─────────────────┘  │
│         ↑                        │
│  Input Embeddings +       │
│  Positional Encoding      │
└─────────────────────┘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4. Scaled Dot-Product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B2A4A"/>
                </a:solidFill>
                <a:latin typeface="Calibri"/>
              </a:rPr>
              <a:t>Core Mechanism: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▸ Input: Queries (Q), Keys (K) of dimension dk, Values (V) of dimension dv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▸ Compute dot products of query with all keys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▸ Divide by √dk (scaling factor)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▸ Apply softmax to obtain weights on values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▸ Output: weighted sum of values</a:t>
            </a:r>
          </a:p>
          <a:p>
            <a:pPr>
              <a:spcBef>
                <a:spcPts val="2000"/>
              </a:spcBef>
            </a:pPr>
            <a:r>
              <a:rPr sz="1600" b="1">
                <a:solidFill>
                  <a:srgbClr val="E84D3D"/>
                </a:solidFill>
                <a:latin typeface="Calibri"/>
              </a:rPr>
              <a:t>Why Scale?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For large dk, dot products grow large in magnitude, pushing softmax into regions with extremely small gradients.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0" y="1371600"/>
            <a:ext cx="4754880" cy="2286000"/>
          </a:xfrm>
          <a:prstGeom prst="roundRect">
            <a:avLst/>
          </a:prstGeom>
          <a:solidFill>
            <a:srgbClr val="EBF5FB"/>
          </a:solidFill>
          <a:ln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/>
            <a:r>
              <a:rPr sz="1600" b="1">
                <a:solidFill>
                  <a:srgbClr val="2E86AB"/>
                </a:solidFill>
              </a:rPr>
              <a:t>Formula</a:t>
            </a:r>
          </a:p>
          <a:p>
            <a:pPr algn="ctr">
              <a:spcBef>
                <a:spcPts val="16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Attention(Q, K, V) =</a:t>
            </a:r>
          </a:p>
          <a:p>
            <a:pPr algn="ctr"/>
            <a:r>
              <a:rPr sz="2000" b="1">
                <a:solidFill>
                  <a:srgbClr val="1B2A4A"/>
                </a:solidFill>
                <a:latin typeface="Cambria Math"/>
              </a:rPr>
              <a:t>softmax(QKᵀ / √dk) · 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4114800"/>
            <a:ext cx="4754880" cy="2286000"/>
          </a:xfrm>
          <a:prstGeom prst="roundRect">
            <a:avLst/>
          </a:prstGeom>
          <a:solidFill>
            <a:srgbClr val="FDF2E9"/>
          </a:solidFill>
          <a:ln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/>
            <a:r>
              <a:rPr sz="1400" b="1">
                <a:solidFill>
                  <a:srgbClr val="F39C12"/>
                </a:solidFill>
              </a:rPr>
              <a:t>vs. Additive Attention: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2C3E50"/>
                </a:solidFill>
              </a:rPr>
              <a:t>• Dot-product is faster &amp; more space-efficient</a:t>
            </a:r>
          </a:p>
          <a:p>
            <a:r>
              <a:rPr sz="1300">
                <a:solidFill>
                  <a:srgbClr val="2C3E50"/>
                </a:solidFill>
              </a:rPr>
              <a:t>• Uses optimized matrix multiplication</a:t>
            </a:r>
          </a:p>
          <a:p>
            <a:r>
              <a:rPr sz="1300">
                <a:solidFill>
                  <a:srgbClr val="2C3E50"/>
                </a:solidFill>
              </a:rPr>
              <a:t>• Similar theoretical complexity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4. Multi-Head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B2A4A"/>
                </a:solidFill>
              </a:rPr>
              <a:t>Core Idea: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▸ Instead of single attention with dmodel dimensions...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▸ Linearly project Q, K, V h times with different learned projections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▸ Perform attention in parallel on each projection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▸ Concatenate results and project once more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▸ Allows attending to information from different subspaces</a:t>
            </a:r>
          </a:p>
          <a:p>
            <a:pPr>
              <a:spcBef>
                <a:spcPts val="2000"/>
              </a:spcBef>
            </a:pPr>
            <a:r>
              <a:rPr sz="1600" b="1">
                <a:solidFill>
                  <a:srgbClr val="2E86AB"/>
                </a:solidFill>
              </a:rPr>
              <a:t>Configuration in this paper: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• h = 8 parallel attention heads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• dk = dv = dmodel/h = 64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• Total cost ≈ single-head attention with full dimensionality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79" y="1371600"/>
            <a:ext cx="4389120" cy="2743200"/>
          </a:xfrm>
          <a:prstGeom prst="roundRect">
            <a:avLst/>
          </a:prstGeom>
          <a:solidFill>
            <a:srgbClr val="EBF5FB"/>
          </a:solidFill>
          <a:ln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/>
            <a:r>
              <a:rPr sz="1400" b="1">
                <a:solidFill>
                  <a:srgbClr val="2E86AB"/>
                </a:solidFill>
              </a:rPr>
              <a:t>Multi-Head Formula</a:t>
            </a:r>
          </a:p>
          <a:p>
            <a:pPr algn="ctr">
              <a:spcBef>
                <a:spcPts val="1200"/>
              </a:spcBef>
            </a:pPr>
            <a:r>
              <a:rPr sz="1300">
                <a:solidFill>
                  <a:srgbClr val="2C3E50"/>
                </a:solidFill>
              </a:rPr>
              <a:t>MultiHead(Q,K,V) =</a:t>
            </a:r>
          </a:p>
          <a:p>
            <a:pPr algn="ctr"/>
            <a:r>
              <a:rPr sz="1500" b="1">
                <a:solidFill>
                  <a:srgbClr val="1B2A4A"/>
                </a:solidFill>
                <a:latin typeface="Cambria Math"/>
              </a:rPr>
              <a:t>Concat(head₁,...,headₕ)Wᴼ</a:t>
            </a:r>
          </a:p>
          <a:p>
            <a:pPr algn="ctr">
              <a:spcBef>
                <a:spcPts val="1200"/>
              </a:spcBef>
            </a:pPr>
            <a:r>
              <a:rPr sz="1300">
                <a:solidFill>
                  <a:srgbClr val="2C3E50"/>
                </a:solidFill>
              </a:rPr>
              <a:t>where headᵢ =</a:t>
            </a:r>
          </a:p>
          <a:p>
            <a:pPr algn="ctr"/>
            <a:r>
              <a:rPr sz="1400" b="1">
                <a:solidFill>
                  <a:srgbClr val="1B2A4A"/>
                </a:solidFill>
                <a:latin typeface="Cambria Math"/>
              </a:rPr>
              <a:t>Attention(QWᵢQ, KWᵢK, VWᵢV)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4. Three Applications of Attention in Transformer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6576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1600" b="1">
                <a:solidFill>
                  <a:srgbClr val="2E86AB"/>
                </a:solidFill>
              </a:rPr>
              <a:t>Encoder-Decoder
Attention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• Queries from previous decoder layer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• Keys &amp; Values from encoder output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• Every decoder position attends over all input positions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• Mimics typical seq2seq attention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36576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1600" b="1">
                <a:solidFill>
                  <a:srgbClr val="27AE60"/>
                </a:solidFill>
              </a:rPr>
              <a:t>Encoder
Self-Attention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• All Q, K, V from same place (previous encoder layer)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• Each position attends to all positions in previous layer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• Captures dependencies within input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371600"/>
            <a:ext cx="36576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84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1600" b="1">
                <a:solidFill>
                  <a:srgbClr val="E84D3D"/>
                </a:solidFill>
              </a:rPr>
              <a:t>Decoder
Self-Attention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• Each position attends to all positions up to current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• Masked to prevent leftward information flow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• Preserves auto-regressive property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• Illegal connections masked to -∞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5. Position-wise FFN &amp; Embeddings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73152" cy="25603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E86AB"/>
                </a:solidFill>
              </a:rPr>
              <a:t>Position-wise Feed-Forward Networks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• Applied to each position separately and identically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• Two linear transformations with ReLU activation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• FFN(x) = max(0, xW₁ + b₁)W₂ + b₂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• Input/Output dimension: dmodel = 512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• Inner-layer dimension: dff = 2048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• Equivalent to two convolutions with kernel size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389120"/>
            <a:ext cx="73152" cy="201168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3891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39C12"/>
                </a:solidFill>
              </a:rPr>
              <a:t>Embeddings and Softmax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• Learned embeddings convert tokens to vectors of dim dmodel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• Shared weight matrix between embedding layers and pre-softmax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• Embedding weights multiplied by √dmodel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1371600"/>
            <a:ext cx="4846320" cy="5029200"/>
          </a:xfrm>
          <a:prstGeom prst="roundRect">
            <a:avLst/>
          </a:prstGeom>
          <a:solidFill>
            <a:srgbClr val="F0F4F8"/>
          </a:solidFill>
          <a:ln>
            <a:solidFill>
              <a:srgbClr val="BDC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/>
            <a:r>
              <a:rPr sz="1600" b="1">
                <a:solidFill>
                  <a:srgbClr val="1B2A4A"/>
                </a:solidFill>
              </a:rPr>
              <a:t>Sub-layer Structure</a:t>
            </a:r>
          </a:p>
          <a:p>
            <a:pPr algn="ctr"/>
            <a:r>
              <a:rPr sz="1200">
                <a:solidFill>
                  <a:srgbClr val="2C3E50"/>
                </a:solidFill>
                <a:latin typeface="Consolas"/>
              </a:rPr>
              <a:t>
    Input (x)
       │
       ▼
┌─────────────┐
│  Sub-Layer      │
│  (Attention or  │
│   FFN)              │
└─────────────┘
       │
       ▼
  x + Sublayer(x)
       │
       ▼
  LayerNorm(...)
       │
       ▼
    Output
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6. Positional Encoding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B2A4A"/>
                </a:solidFill>
              </a:rPr>
              <a:t>Why Positional Encoding?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▸ No recurrence, no convolution → model has no sense of position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▸ Must inject information about token positions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▸ Added to input embeddings at bottom of encoder/decoder stacks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▸ Same dimension as embeddings (dmodel) so they can be summed</a:t>
            </a:r>
          </a:p>
          <a:p>
            <a:pPr>
              <a:spcBef>
                <a:spcPts val="1600"/>
              </a:spcBef>
            </a:pPr>
            <a:r>
              <a:rPr sz="1600" b="1">
                <a:solidFill>
                  <a:srgbClr val="2E86AB"/>
                </a:solidFill>
              </a:rPr>
              <a:t>Why Sinusoidal?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▸ Allows model to learn to attend by relative positions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▸ PE(pos+k) can be represented as linear function of PE(pos)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▸ May extrapolate to longer sequences than seen during training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▸ Learned positional embeddings produce nearly identical 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0" y="1371600"/>
            <a:ext cx="4572000" cy="3200400"/>
          </a:xfrm>
          <a:prstGeom prst="roundRect">
            <a:avLst/>
          </a:prstGeom>
          <a:solidFill>
            <a:srgbClr val="EBF5FB"/>
          </a:solidFill>
          <a:ln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/>
            <a:r>
              <a:rPr sz="1600" b="1">
                <a:solidFill>
                  <a:srgbClr val="2E86AB"/>
                </a:solidFill>
              </a:rPr>
              <a:t>Sinusoidal Functions</a:t>
            </a:r>
          </a:p>
          <a:p>
            <a:pPr algn="ctr">
              <a:spcBef>
                <a:spcPts val="1600"/>
              </a:spcBef>
            </a:pPr>
            <a:r>
              <a:rPr sz="1300" b="1">
                <a:solidFill>
                  <a:srgbClr val="1B2A4A"/>
                </a:solidFill>
                <a:latin typeface="Consolas"/>
              </a:rPr>
              <a:t>PE(pos, 2i) = sin(pos / 10000^(2i/dmodel))</a:t>
            </a:r>
          </a:p>
          <a:p>
            <a:pPr algn="ctr">
              <a:spcBef>
                <a:spcPts val="1000"/>
              </a:spcBef>
            </a:pPr>
            <a:r>
              <a:rPr sz="1300" b="1">
                <a:solidFill>
                  <a:srgbClr val="1B2A4A"/>
                </a:solidFill>
                <a:latin typeface="Consolas"/>
              </a:rPr>
              <a:t>PE(pos, 2i+1) = cos(pos / 10000^(2i/dmodel))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2C3E50"/>
                </a:solidFill>
              </a:rPr>
              <a:t>Wavelengths form geometric progression
from 2π to 10000·2π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7. Why Self-Attention?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058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Layer Type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Complexity/Layer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Sequential Ops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Max Path Length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3E50"/>
                          </a:solidFill>
                        </a:rPr>
                        <a:t>Self-Attention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3E50"/>
                          </a:solidFill>
                        </a:rPr>
                        <a:t>O(n²·d)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3E50"/>
                          </a:solidFill>
                        </a:rPr>
                        <a:t>O(1)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3E50"/>
                          </a:solidFill>
                        </a:rPr>
                        <a:t>O(1)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3E50"/>
                          </a:solidFill>
                        </a:rPr>
                        <a:t>Recurrent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3E50"/>
                          </a:solidFill>
                        </a:rPr>
                        <a:t>O(n·d²)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3E50"/>
                          </a:solidFill>
                        </a:rPr>
                        <a:t>O(n)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3E50"/>
                          </a:solidFill>
                        </a:rPr>
                        <a:t>O(n)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3E50"/>
                          </a:solidFill>
                        </a:rPr>
                        <a:t>Convolutional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3E50"/>
                          </a:solidFill>
                        </a:rPr>
                        <a:t>O(k·n·d²)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3E50"/>
                          </a:solidFill>
                        </a:rPr>
                        <a:t>O(1)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3E50"/>
                          </a:solidFill>
                        </a:rPr>
                        <a:t>O(logk(n))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3E50"/>
                          </a:solidFill>
                        </a:rPr>
                        <a:t>Self-Attn (restricted)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3E50"/>
                          </a:solidFill>
                        </a:rPr>
                        <a:t>O(r·n·d)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3E50"/>
                          </a:solidFill>
                        </a:rPr>
                        <a:t>O(1)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3E50"/>
                          </a:solidFill>
                        </a:rPr>
                        <a:t>O(n/r)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93192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B2A4A"/>
                </a:solidFill>
              </a:rPr>
              <a:t>Three Desiderata for Choosing Self-Attention: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① Total computational complexity per layer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② Amount of computation that can be parallelized (min sequential ops)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③ Path length between long-range dependencies (shorter = easier to learn)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→ Self-attention: constant sequential ops + constant path length = best for long-range dependencies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→ Additional benefit: more interpretable models (attention heads learn different tasks)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8. Training Details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2286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600" b="1">
                <a:solidFill>
                  <a:srgbClr val="2E86AB"/>
                </a:solidFill>
              </a:rPr>
              <a:t>📊 Data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  • WMT 2014 EN-DE: 4.5M sentence pairs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  • Byte-pair encoding, ~37K tokens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  • WMT 2014 EN-FR: 36M sentences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  • 32K word-piece vocabulary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  • Batches: ~25K source + 25K target tokens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486400" cy="2286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600" b="1">
                <a:solidFill>
                  <a:srgbClr val="27AE60"/>
                </a:solidFill>
              </a:rPr>
              <a:t>🖥️ Hardware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  • 8 NVIDIA P100 GPUs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  • Base model: 0.4s/step, 100K steps (12h)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  • Big model: 1.0s/step, 300K steps (3.5 days)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931920"/>
            <a:ext cx="5486400" cy="2286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600" b="1">
                <a:solidFill>
                  <a:srgbClr val="F39C12"/>
                </a:solidFill>
              </a:rPr>
              <a:t>⚡ Optimizer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  • Adam: β₁=0.9, β₂=0.98, ε=10⁻⁹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  • Warmup + decay learning rate schedule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  • warmup_steps = 4000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  • lrate = d⁻⁰·⁵_model · min(step⁻⁰·⁵, step·warmup⁻¹·⁵)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931920"/>
            <a:ext cx="5486400" cy="2286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84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600" b="1">
                <a:solidFill>
                  <a:srgbClr val="E84D3D"/>
                </a:solidFill>
              </a:rPr>
              <a:t>🛡️ Regularization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  • Residual Dropout (Pdrop = 0.1)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  • Applied to sub-layer outputs &amp; embeddings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  • Label Smoothing (εls = 0.1)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  • Hurts perplexity, improves BLEU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9. Results — Machine Translation (Table 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058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286000"/>
                <a:gridCol w="2286000"/>
                <a:gridCol w="2286000"/>
              </a:tblGrid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EN-DE BLEU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EN-FR BLEU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Training Cost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3E50"/>
                          </a:solidFill>
                        </a:rPr>
                        <a:t>ByteNet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3E50"/>
                          </a:solidFill>
                        </a:rPr>
                        <a:t>23.75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3E50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3E50"/>
                          </a:solidFill>
                        </a:rPr>
                        <a:t>—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3E50"/>
                          </a:solidFill>
                        </a:rPr>
                        <a:t>GNMT + RL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3E50"/>
                          </a:solidFill>
                        </a:rPr>
                        <a:t>24.6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3E50"/>
                          </a:solidFill>
                        </a:rPr>
                        <a:t>39.92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3E50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3E50"/>
                          </a:solidFill>
                        </a:rPr>
                        <a:t>ConvS2S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3E50"/>
                          </a:solidFill>
                        </a:rPr>
                        <a:t>25.16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3E50"/>
                          </a:solidFill>
                        </a:rPr>
                        <a:t>40.46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3E50"/>
                          </a:solidFill>
                        </a:rPr>
                        <a:t>9.6×10¹⁸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3E50"/>
                          </a:solidFill>
                        </a:rPr>
                        <a:t>MoE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3E50"/>
                          </a:solidFill>
                        </a:rPr>
                        <a:t>26.03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3E50"/>
                          </a:solidFill>
                        </a:rPr>
                        <a:t>40.56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3E50"/>
                          </a:solidFill>
                        </a:rPr>
                        <a:t>2.0×10¹⁹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3E50"/>
                          </a:solidFill>
                        </a:rPr>
                        <a:t>ConvS2S Ensemble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3E50"/>
                          </a:solidFill>
                        </a:rPr>
                        <a:t>26.36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3E50"/>
                          </a:solidFill>
                        </a:rPr>
                        <a:t>41.29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C3E50"/>
                          </a:solidFill>
                        </a:rPr>
                        <a:t>7.7×10¹⁹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B2A4A"/>
                          </a:solidFill>
                        </a:rPr>
                        <a:t>Transformer (base)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B2A4A"/>
                          </a:solidFill>
                        </a:rPr>
                        <a:t>27.3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B2A4A"/>
                          </a:solidFill>
                        </a:rPr>
                        <a:t>38.1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B2A4A"/>
                          </a:solidFill>
                        </a:rPr>
                        <a:t>3.3×10¹⁸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B2A4A"/>
                          </a:solidFill>
                        </a:rPr>
                        <a:t>Transformer (big)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B2A4A"/>
                          </a:solidFill>
                        </a:rPr>
                        <a:t>28.4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B2A4A"/>
                          </a:solidFill>
                        </a:rPr>
                        <a:t>41.0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B2A4A"/>
                          </a:solidFill>
                        </a:rPr>
                        <a:t>2.3×10¹⁹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8463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B2A4A"/>
                </a:solidFill>
              </a:rPr>
              <a:t>Key Findings: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C3E50"/>
                </a:solidFill>
                <a:latin typeface="Calibri"/>
              </a:rPr>
              <a:t>✅ Transformer (big) outperforms all previous models including ensembles on EN-DE by &gt;2 BLEU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C3E50"/>
                </a:solidFill>
                <a:latin typeface="Calibri"/>
              </a:rPr>
              <a:t>✅ New SOTA: 28.4 BLEU (EN-DE), 41.0 BLEU (EN-FR)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C3E50"/>
                </a:solidFill>
                <a:latin typeface="Calibri"/>
              </a:rPr>
              <a:t>✅ Achieves this at a fraction of the training cost of competitive models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9. Model Variations (Table 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A4A"/>
                </a:solidFill>
                <a:latin typeface="Calibri"/>
              </a:rPr>
              <a:t>Base Model: N=6, dmodel=512, dff=2048, h=8, dk=dv=64, Pdrop=0.1 → 25.8 BLEU, 65M params</a:t>
            </a:r>
          </a:p>
          <a:p>
            <a:pPr>
              <a:spcBef>
                <a:spcPts val="1600"/>
              </a:spcBef>
            </a:pPr>
            <a:r>
              <a:rPr sz="1600" b="1">
                <a:solidFill>
                  <a:srgbClr val="2E86AB"/>
                </a:solidFill>
              </a:rPr>
              <a:t>Ablation Studies: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(A) Varying attention heads: Single head hurts quality; too many heads also degrade performance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(B) Reducing dk hurts quality — determining compatibility is not easy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(C) Bigger models are better — more parameters improve performance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(D) Dropout is very helpful — prevents overfitting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(E) Learned positional embeddings ≈ sinusoidal positional encoding (nearly identical results)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Big Model: N=6, dmodel=1024, dff=4096, h=16, Pdrop=0.3 → 28.4 BLEU, 213M params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9. Generalization — English Constituency Parsing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B2A4A"/>
                </a:solidFill>
              </a:rPr>
              <a:t>Task: Structured output with strong structural constraints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Evaluated on Wall Street Journal (WSJ) portion of Penn Treebank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Trained on ~40K sentences (WSJ training section)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Also trained in semi-supervised setting with ~17M sentences (BerkleyParser corpus)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Results (WSJ Section 23, F1 score):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  • Transformer (4 layers): 91.3 F1 — outperforms all previous single models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  • With semi-supervised: comparable to RNN Grammar and best published results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Demonstrates generalization capability: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  • Model designed for machine translation generalizes to other tasks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  • Despite lack of task-specific tuning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    • Opens door to applying Transformer to diverse NLP tasks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10. Conclusion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5029200"/>
          </a:xfrm>
          <a:prstGeom prst="round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/>
          <a:lstStyle/>
          <a:p>
            <a:pPr algn="ctr"/>
            <a:r>
              <a:t/>
            </a:r>
          </a:p>
          <a:p>
            <a:pPr>
              <a:spcBef>
                <a:spcPts val="1200"/>
              </a:spcBef>
            </a:pPr>
            <a:r>
              <a:rPr sz="1600" b="1">
                <a:solidFill>
                  <a:srgbClr val="F39C12"/>
                </a:solidFill>
                <a:latin typeface="Calibri"/>
              </a:rPr>
              <a:t>🏗️ Novel Architecture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    First sequence transduction model based entirely on attention — no RNNs, no CNNs</a:t>
            </a:r>
          </a:p>
          <a:p>
            <a:pPr>
              <a:spcBef>
                <a:spcPts val="1200"/>
              </a:spcBef>
            </a:pPr>
            <a:r>
              <a:rPr sz="1600" b="1">
                <a:solidFill>
                  <a:srgbClr val="F39C12"/>
                </a:solidFill>
                <a:latin typeface="Calibri"/>
              </a:rPr>
              <a:t>⚡ Faster Training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    Significantly more parallelizable; trains in fraction of time compared to architectures based on recurrent or convolutional layers</a:t>
            </a:r>
          </a:p>
          <a:p>
            <a:pPr>
              <a:spcBef>
                <a:spcPts val="1200"/>
              </a:spcBef>
            </a:pPr>
            <a:r>
              <a:rPr sz="1600" b="1">
                <a:solidFill>
                  <a:srgbClr val="F39C12"/>
                </a:solidFill>
                <a:latin typeface="Calibri"/>
              </a:rPr>
              <a:t>🏆 State-of-the-Art Results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    28.4 BLEU on EN-DE (new SOTA), 41.0 BLEU on EN-FR (new single-model SOTA)</a:t>
            </a:r>
          </a:p>
          <a:p>
            <a:pPr>
              <a:spcBef>
                <a:spcPts val="1200"/>
              </a:spcBef>
            </a:pPr>
            <a:r>
              <a:rPr sz="1600" b="1">
                <a:solidFill>
                  <a:srgbClr val="F39C12"/>
                </a:solidFill>
                <a:latin typeface="Calibri"/>
              </a:rPr>
              <a:t>🔄 Generalizable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    Successfully applied to English constituency parsing with limited training data</a:t>
            </a:r>
          </a:p>
          <a:p>
            <a:pPr>
              <a:spcBef>
                <a:spcPts val="1200"/>
              </a:spcBef>
            </a:pPr>
            <a:r>
              <a:rPr sz="1600" b="1">
                <a:solidFill>
                  <a:srgbClr val="F39C12"/>
                </a:solidFill>
                <a:latin typeface="Calibri"/>
              </a:rPr>
              <a:t>🔮 Future Work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    Apply to other tasks (images, audio, video); investigate local/restricted attention for large inputs; make generation less sequential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Impact &amp; Legacy of the Transformer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B2A4A"/>
                </a:solidFill>
              </a:rPr>
              <a:t>The Transformer architecture revolutionized AI: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⭐ Foundation for BERT, GPT, T5, and all modern Large Language Models (LLMs)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⭐ Enabled pre-training + fine-tuning paradigm that dominates NLP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⭐ Extended beyond NLP: Vision Transformer (ViT), DALL-E, Stable Diffusion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⭐ Scaled to billions/trillions of parameters (GPT-4, PaLM, etc.)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⭐ Self-attention mechanism became the de facto standard for sequence modeling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⭐ Cited 100,000+ times — one of the most influential ML papers ever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⭐ "Attention Is All You Need" became a landmark paper title in AI history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⭐ Enabled the current era of generative AI and foundation models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Calibri Light"/>
              </a:rPr>
              <a:t>Thank You!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F39C12"/>
                </a:solidFill>
                <a:latin typeface="Calibri Light"/>
              </a:rPr>
              <a:t>"Attention Is All You Need"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548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95A5A6"/>
                </a:solidFill>
                <a:latin typeface="Calibri"/>
              </a:rPr>
              <a:t>Vaswani et al., NIPS 2017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